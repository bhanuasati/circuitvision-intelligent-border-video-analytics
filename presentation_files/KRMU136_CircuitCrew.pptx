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254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openxmlformats.org/officeDocument/2006/relationships/image" Target="../media/image8.jpe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63036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743381" y="20765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17145"/>
            <a:ext cx="8534400" cy="2059305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Crew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-574675"/>
            <a:ext cx="10363200" cy="193421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2430" y="1864360"/>
            <a:ext cx="7792085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400" b="1" u="sng" dirty="0">
                <a:latin typeface="Arial" panose="020B0704020202020204" pitchFamily="34" charset="0"/>
                <a:cs typeface="Arial" panose="020B0704020202020204" pitchFamily="34" charset="0"/>
              </a:rPr>
              <a:t>Problem Statement ID</a:t>
            </a:r>
            <a:r>
              <a:rPr lang="en-US" sz="2400" b="1" dirty="0">
                <a:latin typeface="Arial" panose="020B0704020202020204" pitchFamily="34" charset="0"/>
                <a:cs typeface="Arial" panose="020B0704020202020204" pitchFamily="34" charset="0"/>
              </a:rPr>
              <a:t> –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26187</a:t>
            </a:r>
            <a:endParaRPr lang="en-US" altLang="en-US" sz="2400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704020202020204" pitchFamily="34" charset="0"/>
              <a:buChar char="•"/>
            </a:pPr>
            <a:r>
              <a:rPr lang="en-US" sz="2400" b="1" u="sng" dirty="0">
                <a:latin typeface="Arial" panose="020B0704020202020204" pitchFamily="34" charset="0"/>
                <a:cs typeface="Arial" panose="020B0704020202020204" pitchFamily="34" charset="0"/>
              </a:rPr>
              <a:t>Problem Statement Title</a:t>
            </a:r>
            <a:r>
              <a:rPr lang="en-US" sz="2400" b="1" dirty="0">
                <a:latin typeface="Arial" panose="020B0704020202020204" pitchFamily="34" charset="0"/>
                <a:cs typeface="Arial" panose="020B0704020202020204" pitchFamily="34" charset="0"/>
              </a:rPr>
              <a:t> - </a:t>
            </a:r>
            <a:r>
              <a:rPr lang="en-US" sz="1600" b="1" dirty="0" smtClean="0">
                <a:solidFill>
                  <a:srgbClr val="FF0000"/>
                </a:solidFill>
                <a:latin typeface="+mn-lt"/>
                <a:cs typeface="+mn-lt"/>
                <a:sym typeface="+mn-ea"/>
              </a:rPr>
              <a:t>AI-Based Intelligent Video Analytics Platform for Border Surveillance using existing CCTV infrastructure.</a:t>
            </a:r>
            <a:endParaRPr lang="en-US" sz="2400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704020202020204" pitchFamily="34" charset="0"/>
              <a:buChar char="•"/>
            </a:pPr>
            <a:r>
              <a:rPr lang="en-US" sz="2400" b="1" u="sng" dirty="0">
                <a:latin typeface="Arial" panose="020B0704020202020204" pitchFamily="34" charset="0"/>
                <a:cs typeface="Arial" panose="020B0704020202020204" pitchFamily="34" charset="0"/>
              </a:rPr>
              <a:t>Theme</a:t>
            </a:r>
            <a:r>
              <a:rPr lang="en-US" sz="2400" b="1" dirty="0">
                <a:latin typeface="Arial" panose="020B0704020202020204" pitchFamily="34" charset="0"/>
                <a:cs typeface="Arial" panose="020B0704020202020204" pitchFamily="34" charset="0"/>
              </a:rPr>
              <a:t> -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Blockchain &amp; Cybersecurity</a:t>
            </a:r>
            <a:endParaRPr lang="en-US" altLang="en-US" sz="2400" b="1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704020202020204" pitchFamily="34" charset="0"/>
              <a:buChar char="•"/>
            </a:pPr>
            <a:r>
              <a:rPr lang="en-US" sz="2400" b="1" u="sng" dirty="0">
                <a:latin typeface="Arial" panose="020B0704020202020204" pitchFamily="34" charset="0"/>
                <a:cs typeface="Arial" panose="020B0704020202020204" pitchFamily="34" charset="0"/>
              </a:rPr>
              <a:t>PS Category</a:t>
            </a:r>
            <a:r>
              <a:rPr lang="en-US" sz="2400" b="1" dirty="0">
                <a:latin typeface="Arial" panose="020B0704020202020204" pitchFamily="34" charset="0"/>
                <a:cs typeface="Arial" panose="020B0704020202020204" pitchFamily="34" charset="0"/>
              </a:rPr>
              <a:t> - </a:t>
            </a:r>
            <a:r>
              <a:rPr lang="en-US" sz="2400" b="1" dirty="0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Software</a:t>
            </a:r>
            <a:endParaRPr lang="en-US" sz="2400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704020202020204" pitchFamily="34" charset="0"/>
              <a:buChar char="•"/>
            </a:pPr>
            <a:r>
              <a:rPr lang="en-US" sz="2400" b="1" u="sng" dirty="0">
                <a:latin typeface="Arial" panose="020B0704020202020204" pitchFamily="34" charset="0"/>
                <a:cs typeface="Arial" panose="020B0704020202020204" pitchFamily="34" charset="0"/>
              </a:rPr>
              <a:t>Team ID</a:t>
            </a:r>
            <a:r>
              <a:rPr lang="en-US" sz="2400" b="1" dirty="0">
                <a:latin typeface="Arial" panose="020B0704020202020204" pitchFamily="34" charset="0"/>
                <a:cs typeface="Arial" panose="020B0704020202020204" pitchFamily="34" charset="0"/>
              </a:rPr>
              <a:t> - </a:t>
            </a:r>
            <a:r>
              <a:rPr lang="en-US" sz="2400" b="1" dirty="0" smtClean="0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KRMU136</a:t>
            </a:r>
            <a:endParaRPr lang="en-US" sz="2400" b="1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704020202020204" pitchFamily="34" charset="0"/>
              <a:buChar char="•"/>
            </a:pPr>
            <a:r>
              <a:rPr lang="en-US" sz="2400" b="1" u="sng" dirty="0">
                <a:latin typeface="Arial" panose="020B0704020202020204" pitchFamily="34" charset="0"/>
                <a:cs typeface="Arial" panose="020B0704020202020204" pitchFamily="34" charset="0"/>
              </a:rPr>
              <a:t>Team Name</a:t>
            </a:r>
            <a:r>
              <a:rPr lang="en-US" sz="2400" b="1" dirty="0">
                <a:latin typeface="Arial" panose="020B0704020202020204" pitchFamily="34" charset="0"/>
                <a:cs typeface="Arial" panose="020B0704020202020204" pitchFamily="34" charset="0"/>
              </a:rPr>
              <a:t> : </a:t>
            </a:r>
            <a:r>
              <a:rPr lang="en-US" sz="2400" b="1" dirty="0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Circuit Crew </a:t>
            </a:r>
            <a:endParaRPr lang="en-US" sz="2400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52575" y="1270"/>
            <a:ext cx="8228330" cy="1141730"/>
          </a:xfrm>
        </p:spPr>
        <p:txBody>
          <a:bodyPr/>
          <a:lstStyle/>
          <a:p>
            <a:pPr algn="just" eaLnBrk="1" hangingPunct="1"/>
            <a:r>
              <a:rPr lang="en-US" sz="1800" b="1" i="1" u="sng" dirty="0">
                <a:solidFill>
                  <a:srgbClr val="FF0000"/>
                </a:solidFill>
                <a:latin typeface="+mn-lt"/>
                <a:ea typeface="MS PGothic" pitchFamily="1" charset="-128"/>
                <a:cs typeface="+mn-lt"/>
              </a:rPr>
              <a:t>TITLE: </a:t>
            </a:r>
            <a:br>
              <a:rPr lang="en-US" sz="1800" b="1" dirty="0">
                <a:latin typeface="+mn-lt"/>
                <a:ea typeface="MS PGothic" pitchFamily="1" charset="-128"/>
                <a:cs typeface="+mn-lt"/>
              </a:rPr>
            </a:br>
            <a:r>
              <a:rPr lang="en-US" sz="1800" b="1" dirty="0">
                <a:latin typeface="+mn-lt"/>
                <a:cs typeface="+mn-lt"/>
                <a:sym typeface="+mn-ea"/>
              </a:rPr>
              <a:t>AI- Based Intelligent Video Analytics Platform for Border Surveillance using existing CCTV infrastructure.</a:t>
            </a:r>
            <a:endParaRPr lang="en-US" sz="1800" b="1" dirty="0">
              <a:latin typeface="+mn-lt"/>
              <a:ea typeface="MS PGothic" pitchFamily="1" charset="-128"/>
              <a:cs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9080" y="6356350"/>
            <a:ext cx="10761345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bg1"/>
                </a:solidFill>
              </a:rPr>
              <a:t>SIH 2K26 • Team Circuit Crew • GitHub: https://github.com/BHANUASATI/circuitvision-intelligent-border-video-analytics.git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87630" y="82550"/>
            <a:ext cx="1337310" cy="7162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b="1" i="1" u="sng" dirty="0">
                <a:solidFill>
                  <a:srgbClr val="FF0000"/>
                </a:solidFill>
              </a:rPr>
              <a:t>Circuit Crew</a:t>
            </a:r>
            <a:endParaRPr lang="en-US" altLang="en-US" b="1" i="1" u="sng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259080" y="1128395"/>
            <a:ext cx="11298555" cy="71628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400" b="1" u="sng" dirty="0" smtClean="0"/>
              <a:t>Core Idea</a:t>
            </a:r>
            <a:r>
              <a:rPr lang="en-US" sz="1400" b="1" u="sng" dirty="0" smtClean="0"/>
              <a:t> -</a:t>
            </a:r>
            <a:r>
              <a:rPr lang="en-US" sz="1600" b="1" u="sng" dirty="0"/>
              <a:t> </a:t>
            </a:r>
            <a:endParaRPr lang="en-US" sz="1600" b="1" u="sng" dirty="0"/>
          </a:p>
          <a:p>
            <a:pPr algn="just"/>
            <a:r>
              <a:rPr lang="en-US" altLang="en-US" sz="1600" dirty="0"/>
              <a:t>IBVAP converts existing IP-based CCTV cameras into an AI-powered border surveillance network without replacing the deployed camera infrastructure.</a:t>
            </a:r>
            <a:endParaRPr lang="en-US" altLang="en-US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259080" y="2019300"/>
            <a:ext cx="3204210" cy="4174490"/>
          </a:xfrm>
          <a:prstGeom prst="roundRect">
            <a:avLst>
              <a:gd name="adj" fmla="val 563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Font typeface="Arial" panose="020B0704020202020204" pitchFamily="34" charset="0"/>
              <a:buNone/>
            </a:pPr>
            <a:r>
              <a:rPr lang="en-US" altLang="en-US" sz="1200" b="1" u="sng" dirty="0"/>
              <a:t>How the Solution Works</a:t>
            </a:r>
            <a:endParaRPr lang="en-US" altLang="en-US" sz="1200" b="1" u="sng" dirty="0"/>
          </a:p>
          <a:p>
            <a:pPr marL="285750" indent="-285750" algn="ctr">
              <a:buFont typeface="Arial" panose="020B0704020202020204" pitchFamily="34" charset="0"/>
              <a:buChar char="•"/>
            </a:pPr>
            <a:endParaRPr lang="en-US" altLang="en-US" sz="1200" b="1" u="sng" dirty="0"/>
          </a:p>
          <a:p>
            <a:pPr marL="0" indent="0" algn="ctr">
              <a:buNone/>
            </a:pPr>
            <a:r>
              <a:rPr lang="en-US" altLang="en-US" sz="1200" dirty="0"/>
              <a:t>Live CCTV Streams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↓</a:t>
            </a:r>
            <a:endParaRPr lang="en-US" altLang="en-US" sz="1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altLang="en-US" sz="1200" dirty="0"/>
              <a:t>AI Perception Engine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/>
              <a:t>Human + Vehicle Detection | Tracking | Face Detection | ANPR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↓</a:t>
            </a:r>
            <a:endParaRPr lang="en-US" altLang="en-US" sz="1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altLang="en-US" sz="1200" dirty="0"/>
              <a:t>Event Intelligence Layer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/>
              <a:t>Virtual-Fence Intrusion | Night Movement | Suspicious Activity | Multi-signal Correlation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↓</a:t>
            </a:r>
            <a:endParaRPr lang="en-US" altLang="en-US" sz="1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altLang="en-US" sz="1200" dirty="0"/>
              <a:t>Incident Engine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/>
              <a:t>Risk/priority assignment | Real-time alert | Event timeline | Evidence snapshot/clip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↓</a:t>
            </a:r>
            <a:endParaRPr lang="en-US" altLang="en-US" sz="1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altLang="en-US" sz="1200" dirty="0"/>
              <a:t>Command Dashboard</a:t>
            </a:r>
            <a:endParaRPr lang="en-US" altLang="en-US" sz="1200" dirty="0"/>
          </a:p>
          <a:p>
            <a:pPr marL="0" indent="0" algn="ctr">
              <a:buNone/>
            </a:pPr>
            <a:r>
              <a:rPr lang="en-US" altLang="en-US" sz="1200" dirty="0"/>
              <a:t>One operational view for monitoring, investigation and response.</a:t>
            </a:r>
            <a:endParaRPr lang="en-US" altLang="en-US"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3665855" y="2019300"/>
            <a:ext cx="4001770" cy="4174490"/>
          </a:xfrm>
          <a:prstGeom prst="roundRect">
            <a:avLst>
              <a:gd name="adj" fmla="val 777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en-US" sz="1200" b="1" u="sng" dirty="0"/>
              <a:t>How It Addresses the Problem</a:t>
            </a:r>
            <a:endParaRPr lang="en-US" altLang="en-US" sz="1200" b="1" u="sng" dirty="0"/>
          </a:p>
          <a:p>
            <a:pPr algn="just">
              <a:lnSpc>
                <a:spcPct val="150000"/>
              </a:lnSpc>
            </a:pPr>
            <a:r>
              <a:rPr lang="en-US" altLang="en-US" sz="1200" b="1" dirty="0">
                <a:solidFill>
                  <a:schemeClr val="tx2"/>
                </a:solidFill>
              </a:rPr>
              <a:t>From passive video to actionable intelligence</a:t>
            </a:r>
            <a:endParaRPr lang="en-US" altLang="en-US" sz="1200" dirty="0"/>
          </a:p>
          <a:p>
            <a:pPr marL="171450" indent="-1714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1200" dirty="0"/>
              <a:t>Removes the need for continuous manual monitoring of every camera feed.</a:t>
            </a:r>
            <a:endParaRPr lang="en-US" altLang="en-US" sz="1200" dirty="0"/>
          </a:p>
          <a:p>
            <a:pPr marL="171450" indent="-1714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1200" dirty="0"/>
              <a:t>Reuses existing CCTV infrastructure instead of requiring smart-camera replacement.</a:t>
            </a:r>
            <a:endParaRPr lang="en-US" altLang="en-US" sz="1200" dirty="0"/>
          </a:p>
          <a:p>
            <a:pPr marL="171450" indent="-1714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1200" dirty="0"/>
              <a:t>Detects and tracks relevant objects automatically in real time.</a:t>
            </a:r>
            <a:endParaRPr lang="en-US" altLang="en-US" sz="1200" dirty="0"/>
          </a:p>
          <a:p>
            <a:pPr marL="171450" indent="-1714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1200" dirty="0"/>
              <a:t>Converts raw video into structured security events with location, time, object and evidence.</a:t>
            </a:r>
            <a:endParaRPr lang="en-US" altLang="en-US" sz="1200" dirty="0"/>
          </a:p>
          <a:p>
            <a:pPr marL="171450" indent="-1714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1200" dirty="0"/>
              <a:t>Enables faster identification and prioritisation of potential border incidents.</a:t>
            </a:r>
            <a:endParaRPr lang="en-US" altLang="en-US" sz="1200" dirty="0"/>
          </a:p>
          <a:p>
            <a:pPr marL="171450" indent="-1714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1200" dirty="0"/>
              <a:t>Designed as a scalable software layer that can integrate with existing command-and-control systems.</a:t>
            </a:r>
            <a:endParaRPr lang="en-US" altLang="en-US" sz="1200" dirty="0"/>
          </a:p>
        </p:txBody>
      </p:sp>
      <p:sp>
        <p:nvSpPr>
          <p:cNvPr id="12" name="Rounded Rectangle 11"/>
          <p:cNvSpPr/>
          <p:nvPr/>
        </p:nvSpPr>
        <p:spPr>
          <a:xfrm>
            <a:off x="7882255" y="2019300"/>
            <a:ext cx="3663950" cy="4084955"/>
          </a:xfrm>
          <a:prstGeom prst="roundRect">
            <a:avLst>
              <a:gd name="adj" fmla="val 563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Font typeface="Arial" panose="020B0704020202020204" pitchFamily="34" charset="0"/>
              <a:buNone/>
            </a:pPr>
            <a:r>
              <a:rPr lang="en-US" altLang="en-US" sz="1000" b="1" u="sng" dirty="0"/>
              <a:t>What Makes It Different</a:t>
            </a:r>
            <a:endParaRPr lang="en-US" altLang="en-US" sz="1000" b="1" u="sng" dirty="0"/>
          </a:p>
          <a:p>
            <a:pPr marL="0" indent="0" algn="ctr">
              <a:buFont typeface="Arial" panose="020B0704020202020204" pitchFamily="34" charset="0"/>
              <a:buNone/>
            </a:pP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/>
              <a:t>Not another CCTV dashboard — an event-driven surveillance system.</a:t>
            </a: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>
                <a:highlight>
                  <a:srgbClr val="00FF00"/>
                </a:highlight>
              </a:rPr>
              <a:t>Camera-Agnostic</a:t>
            </a:r>
            <a:endParaRPr lang="en-US" altLang="en-US" sz="1000" dirty="0">
              <a:highlight>
                <a:srgbClr val="00FF00"/>
              </a:highlight>
            </a:endParaRPr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/>
              <a:t>Works as an intelligence layer over existing IP cameras.</a:t>
            </a: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>
                <a:highlight>
                  <a:srgbClr val="00FF00"/>
                </a:highlight>
              </a:rPr>
              <a:t>Context-Aware Detection</a:t>
            </a:r>
            <a:endParaRPr lang="en-US" altLang="en-US" sz="1000" dirty="0">
              <a:highlight>
                <a:srgbClr val="00FF00"/>
              </a:highlight>
            </a:endParaRPr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/>
              <a:t>A person alone is not automatically an incident; the system combines object + location + movement + time + behaviour to identify meaningful events.</a:t>
            </a: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>
                <a:highlight>
                  <a:srgbClr val="00FF00"/>
                </a:highlight>
              </a:rPr>
              <a:t>Incident-Centric Workflow</a:t>
            </a:r>
            <a:endParaRPr lang="en-US" altLang="en-US" sz="1000" dirty="0">
              <a:highlight>
                <a:srgbClr val="00FF00"/>
              </a:highlight>
            </a:endParaRPr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/>
              <a:t>Instead of asking operators to watch video continuously, the platform brings high-priority events to the operator.</a:t>
            </a: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>
                <a:highlight>
                  <a:srgbClr val="00FF00"/>
                </a:highlight>
              </a:rPr>
              <a:t>Evidence-First</a:t>
            </a:r>
            <a:endParaRPr lang="en-US" altLang="en-US" sz="1000" dirty="0">
              <a:highlight>
                <a:srgbClr val="00FF00"/>
              </a:highlight>
            </a:endParaRPr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/>
              <a:t>Every critical alert can be linked with its timestamp, camera, detection metadata and captured evidence for investigation and audit.</a:t>
            </a: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endParaRPr lang="en-US" altLang="en-US" sz="1000" dirty="0"/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>
                <a:highlight>
                  <a:srgbClr val="00FF00"/>
                </a:highlight>
              </a:rPr>
              <a:t>Cybersecurity by Design</a:t>
            </a:r>
            <a:endParaRPr lang="en-US" altLang="en-US" sz="1000" dirty="0">
              <a:highlight>
                <a:srgbClr val="00FF00"/>
              </a:highlight>
            </a:endParaRPr>
          </a:p>
          <a:p>
            <a:pPr marL="0" indent="0" algn="just">
              <a:buFont typeface="Arial" panose="020B0704020202020204" pitchFamily="34" charset="0"/>
              <a:buNone/>
            </a:pPr>
            <a:r>
              <a:rPr lang="en-US" altLang="en-US" sz="1000" dirty="0"/>
              <a:t>Access control, audit trails and tamper-evident event/evidence records protect the integrity of surveillance data.</a:t>
            </a:r>
            <a:endParaRPr lang="en-US" alt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48995"/>
          </a:xfrm>
        </p:spPr>
        <p:txBody>
          <a:bodyPr/>
          <a:lstStyle/>
          <a:p>
            <a:pPr eaLnBrk="1" hangingPunct="1"/>
            <a:r>
              <a:rPr lang="en-US" sz="3600" b="1" u="sng" dirty="0">
                <a:solidFill>
                  <a:schemeClr val="accent3">
                    <a:lumMod val="50000"/>
                  </a:schemeClr>
                </a:solidFill>
                <a:latin typeface="Times New Roman Bold" panose="02020603050405020304" charset="0"/>
                <a:ea typeface="MS PGothic" pitchFamily="1" charset="-128"/>
                <a:cs typeface="Times New Roman Bold" panose="02020603050405020304" charset="0"/>
              </a:rPr>
              <a:t>TECHNICAL APPROACH</a:t>
            </a:r>
            <a:endParaRPr lang="en-US" sz="3600" b="1" u="sng" dirty="0">
              <a:solidFill>
                <a:schemeClr val="accent3">
                  <a:lumMod val="50000"/>
                </a:schemeClr>
              </a:solidFill>
              <a:latin typeface="Times New Roman Bold" panose="02020603050405020304" charset="0"/>
              <a:ea typeface="MS PGothic" pitchFamily="1" charset="-128"/>
              <a:cs typeface="Times New Roman Bold" panose="02020603050405020304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8445" y="887095"/>
            <a:ext cx="2633980" cy="54794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 algn="just">
              <a:buNone/>
            </a:pPr>
            <a:r>
              <a:rPr lang="en-US" altLang="en-US" sz="1400" b="1" u="sng" dirty="0">
                <a:latin typeface="+mn-lt"/>
                <a:cs typeface="+mn-lt"/>
              </a:rPr>
              <a:t>TECHNOLOGY STACK</a:t>
            </a:r>
            <a:endParaRPr lang="en-US" altLang="en-US" sz="1400" b="1" u="sng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200" b="1" u="sng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200" b="1" u="sng" dirty="0"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</a:rPr>
              <a:t>AI / Computer Vision                                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Python • OpenCV • YOLO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Real-time person and vehicle detection from IP-camera streams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ByteTrack / DeepSORT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Persistent multi-object tracking across video frames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OCR Engine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Number-plate detection + text recognition for ANPR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Face Recognition Module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Face detection and identity matching where authorized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200" b="1" u="sng" dirty="0"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</a:rPr>
              <a:t>Video &amp; Backend</a:t>
            </a:r>
            <a:endParaRPr lang="en-US" altLang="en-US" sz="1200" b="1" u="sng" dirty="0">
              <a:solidFill>
                <a:schemeClr val="accent2">
                  <a:lumMod val="75000"/>
                </a:schemeClr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RTSP / ONVIF • GStreamer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Ingest and manage existing IP-CCTV streams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FastAPI • Python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Low-latency backend APIs and AI-service integration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WebSockets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Real-time alerts and live event updates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200" b="1" u="sng" dirty="0">
              <a:latin typeface="+mn-lt"/>
              <a:cs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9395" y="6356350"/>
            <a:ext cx="10881995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SIH 2K26 • Team Circuit Crew • GitHub: https://github.com/BHANUASATI/circuitvision-intelligent-border-video-analytics.git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86995" y="82550"/>
            <a:ext cx="1337310" cy="7181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b="1" i="1" u="sng" dirty="0">
                <a:solidFill>
                  <a:srgbClr val="FF0000"/>
                </a:solidFill>
              </a:rPr>
              <a:t>Circuit Crew</a:t>
            </a:r>
            <a:endParaRPr lang="en-US" altLang="en-US" b="1" i="1" u="sng" dirty="0">
              <a:solidFill>
                <a:srgbClr val="FF0000"/>
              </a:solidFill>
            </a:endParaRPr>
          </a:p>
        </p:txBody>
      </p:sp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2976245" y="887095"/>
            <a:ext cx="2633980" cy="54794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 algn="just">
              <a:buNone/>
            </a:pPr>
            <a:endParaRPr lang="en-US" altLang="en-US" sz="1200" b="1" u="sng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200" b="1" u="sng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200" b="1" u="sng" dirty="0"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</a:rPr>
              <a:t>Data &amp; Dashboard </a:t>
            </a:r>
            <a:r>
              <a:rPr lang="en-US" altLang="en-US" sz="1200" b="1" u="sng" dirty="0">
                <a:solidFill>
                  <a:schemeClr val="accent2">
                    <a:lumMod val="50000"/>
                  </a:schemeClr>
                </a:solidFill>
                <a:latin typeface="+mn-lt"/>
                <a:cs typeface="+mn-lt"/>
              </a:rPr>
              <a:t> </a:t>
            </a:r>
            <a:r>
              <a:rPr lang="en-US" altLang="en-US" sz="1200" b="1" u="sng" dirty="0"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</a:rPr>
              <a:t>                           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PostgreSQL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Camera, event, incident and audit metadata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Redis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Fast event/alert handling and temporary state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React.js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Command &amp; Control dashboard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Docker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latin typeface="+mn-lt"/>
                <a:cs typeface="+mn-lt"/>
              </a:rPr>
              <a:t>Portable deployment across edge/server environments</a:t>
            </a: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dirty="0"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200" b="1" u="sng" dirty="0"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</a:rPr>
              <a:t>Security &amp; Deployment</a:t>
            </a:r>
            <a:endParaRPr lang="en-US" altLang="en-US" sz="1200" b="1" u="sng" dirty="0">
              <a:solidFill>
                <a:schemeClr val="accent2">
                  <a:lumMod val="75000"/>
                </a:schemeClr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RBAC + Encryption + Audit Logs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solidFill>
                  <a:schemeClr val="tx1"/>
                </a:solidFill>
                <a:latin typeface="+mn-lt"/>
                <a:cs typeface="+mn-lt"/>
              </a:rPr>
              <a:t>Controlled access to sensitive surveillance data</a:t>
            </a:r>
            <a:endParaRPr lang="en-US" altLang="en-US" sz="1000" dirty="0">
              <a:solidFill>
                <a:schemeClr val="tx1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SHA-256 / Tamper-Evident Evidence Hashing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solidFill>
                  <a:schemeClr val="tx1"/>
                </a:solidFill>
                <a:latin typeface="+mn-lt"/>
                <a:cs typeface="+mn-lt"/>
              </a:rPr>
              <a:t>Integrity verification for captured evidence</a:t>
            </a:r>
            <a:endParaRPr lang="en-US" altLang="en-US" sz="1000" dirty="0">
              <a:solidFill>
                <a:schemeClr val="tx1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b="1" dirty="0">
                <a:solidFill>
                  <a:srgbClr val="FF0000"/>
                </a:solidFill>
                <a:latin typeface="+mn-lt"/>
                <a:cs typeface="+mn-lt"/>
              </a:rPr>
              <a:t>Edge GPU + Central Server</a:t>
            </a:r>
            <a:endParaRPr lang="en-US" altLang="en-US" sz="1000" b="1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r>
              <a:rPr lang="en-US" altLang="en-US" sz="1000" dirty="0">
                <a:solidFill>
                  <a:schemeClr val="tx1"/>
                </a:solidFill>
                <a:latin typeface="+mn-lt"/>
                <a:cs typeface="+mn-lt"/>
              </a:rPr>
              <a:t>Local inference for low latency; centralized monitoring and management</a:t>
            </a:r>
            <a:endParaRPr lang="en-US" altLang="en-US" sz="1000" dirty="0">
              <a:solidFill>
                <a:schemeClr val="tx1"/>
              </a:solidFill>
              <a:latin typeface="+mn-lt"/>
              <a:cs typeface="+mn-lt"/>
            </a:endParaRPr>
          </a:p>
          <a:p>
            <a:pPr marL="0" indent="0" algn="just">
              <a:buNone/>
            </a:pPr>
            <a:endParaRPr lang="en-US" altLang="en-US" sz="1000" u="sng" dirty="0">
              <a:solidFill>
                <a:schemeClr val="tx1"/>
              </a:solidFill>
              <a:latin typeface="+mn-lt"/>
              <a:cs typeface="+mn-lt"/>
            </a:endParaRPr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5920105" y="1014095"/>
            <a:ext cx="4328795" cy="636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 algn="just"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+mn-lt"/>
                <a:cs typeface="+mn-lt"/>
              </a:rPr>
              <a:t>METHODOLOGY / IMPLEMENTATION FLOW</a:t>
            </a:r>
            <a:endParaRPr lang="en-US" altLang="en-US" sz="1400" b="1" u="sng" dirty="0">
              <a:solidFill>
                <a:schemeClr val="tx1"/>
              </a:solidFill>
              <a:latin typeface="+mn-lt"/>
              <a:cs typeface="+mn-lt"/>
            </a:endParaRPr>
          </a:p>
        </p:txBody>
      </p:sp>
      <p:pic>
        <p:nvPicPr>
          <p:cNvPr id="15" name="Picture 14" descr="ChatGPT Image Sep 1, 2026, 10_48_5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580" y="1391920"/>
            <a:ext cx="5328920" cy="3552825"/>
          </a:xfrm>
          <a:prstGeom prst="rect">
            <a:avLst/>
          </a:prstGeom>
        </p:spPr>
      </p:pic>
      <p:pic>
        <p:nvPicPr>
          <p:cNvPr id="23" name="Picture 22" descr="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55" y="5989955"/>
            <a:ext cx="364490" cy="364490"/>
          </a:xfrm>
          <a:prstGeom prst="rect">
            <a:avLst/>
          </a:prstGeom>
        </p:spPr>
      </p:pic>
      <p:pic>
        <p:nvPicPr>
          <p:cNvPr id="24" name="Picture 23" descr="fa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5833110"/>
            <a:ext cx="521335" cy="521335"/>
          </a:xfrm>
          <a:prstGeom prst="rect">
            <a:avLst/>
          </a:prstGeom>
        </p:spPr>
      </p:pic>
      <p:pic>
        <p:nvPicPr>
          <p:cNvPr id="25" name="Picture 24" descr="rea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305" y="5833110"/>
            <a:ext cx="1124585" cy="485140"/>
          </a:xfrm>
          <a:prstGeom prst="rect">
            <a:avLst/>
          </a:prstGeom>
        </p:spPr>
      </p:pic>
      <p:pic>
        <p:nvPicPr>
          <p:cNvPr id="26" name="Picture 25" descr="redi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095" y="5652135"/>
            <a:ext cx="1713865" cy="846455"/>
          </a:xfrm>
          <a:prstGeom prst="rect">
            <a:avLst/>
          </a:prstGeom>
        </p:spPr>
      </p:pic>
      <p:pic>
        <p:nvPicPr>
          <p:cNvPr id="27" name="Picture 26" descr="sq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250" y="5833110"/>
            <a:ext cx="521335" cy="479425"/>
          </a:xfrm>
          <a:prstGeom prst="rect">
            <a:avLst/>
          </a:prstGeom>
        </p:spPr>
      </p:pic>
      <p:pic>
        <p:nvPicPr>
          <p:cNvPr id="28" name="Picture 27" descr="yol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760" y="5833110"/>
            <a:ext cx="619760" cy="4108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9"/>
          <a:srcRect t="7986" b="8704"/>
          <a:stretch>
            <a:fillRect/>
          </a:stretch>
        </p:blipFill>
        <p:spPr>
          <a:xfrm>
            <a:off x="5176520" y="5807075"/>
            <a:ext cx="715645" cy="50546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10"/>
          <a:srcRect l="22556" t="17680" r="23446" b="36059"/>
          <a:stretch>
            <a:fillRect/>
          </a:stretch>
        </p:blipFill>
        <p:spPr>
          <a:xfrm>
            <a:off x="6037580" y="5821680"/>
            <a:ext cx="520700" cy="459740"/>
          </a:xfrm>
          <a:prstGeom prst="rect">
            <a:avLst/>
          </a:prstGeom>
        </p:spPr>
      </p:pic>
      <p:sp>
        <p:nvSpPr>
          <p:cNvPr id="31" name="Text Box 30"/>
          <p:cNvSpPr txBox="1"/>
          <p:nvPr/>
        </p:nvSpPr>
        <p:spPr>
          <a:xfrm>
            <a:off x="6703695" y="4851400"/>
            <a:ext cx="4570730" cy="151511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endParaRPr sz="400" b="1"/>
          </a:p>
        </p:txBody>
      </p:sp>
      <p:pic>
        <p:nvPicPr>
          <p:cNvPr id="32" name="Picture 31" descr="ChatGPT Image Sep 1, 2026, 11_10_38 A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9800" y="4850765"/>
            <a:ext cx="4110990" cy="150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92837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u="sng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MS PGothic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04800" y="6356350"/>
            <a:ext cx="11021695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SIH 2K26 • Team Circuit Crew • GitHub: https://github.com/BHANUASATI/circuitvision-intelligent-border-video-analytics.git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86995" y="82550"/>
            <a:ext cx="1337310" cy="7181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b="1" i="1" u="sng" dirty="0">
                <a:solidFill>
                  <a:srgbClr val="FF0000"/>
                </a:solidFill>
              </a:rPr>
              <a:t>Circuit Crew</a:t>
            </a:r>
            <a:endParaRPr lang="en-US" altLang="en-US" b="1" i="1" u="sng" dirty="0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9740" y="1048385"/>
            <a:ext cx="3682365" cy="487680"/>
          </a:xfrm>
          <a:prstGeom prst="roundRect">
            <a:avLst>
              <a:gd name="adj" fmla="val 986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1000" dirty="0" smtClean="0">
                <a:solidFill>
                  <a:schemeClr val="tx1"/>
                </a:solidFill>
              </a:rPr>
              <a:t>Why IBVAP is Practical to Deploy</a:t>
            </a:r>
            <a:endParaRPr lang="en-US" altLang="en-US" sz="1000" dirty="0" smtClean="0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59740" y="1703705"/>
            <a:ext cx="200850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00" b="1" i="1" u="sng">
                <a:highlight>
                  <a:srgbClr val="00FF00"/>
                </a:highlight>
              </a:rPr>
              <a:t>1. </a:t>
            </a:r>
            <a:r>
              <a:rPr sz="1600" b="1" i="1" u="sng">
                <a:highlight>
                  <a:srgbClr val="00FF00"/>
                </a:highlight>
              </a:rPr>
              <a:t>FEASIBILITY</a:t>
            </a:r>
            <a:endParaRPr sz="1600" b="1" i="1" u="sng">
              <a:highlight>
                <a:srgbClr val="00FF00"/>
              </a:highlight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5570" y="2106295"/>
            <a:ext cx="3405505" cy="3659505"/>
          </a:xfrm>
          <a:prstGeom prst="rect">
            <a:avLst/>
          </a:prstGeom>
        </p:spPr>
        <p:txBody>
          <a:bodyPr wrap="square">
            <a:noAutofit/>
          </a:bodyPr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Existing CCTV Infrastructure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Uses standard IP-based CCTV streams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No complete camera replacement required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Software-Defined Intelligence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AI capabilities added through software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Reduces dependency on dedicated smart-camera hardware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Edge + Central Architecture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Critical processing can happen near the camera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Central system handles monitoring, incidents and analytics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Modular Implementation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Person detection, vehicle analytics, ANPR and tracking can be deployed independently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New analytics can be added without redesigning the complete platform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Scalable Deployment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Prototype can start with a small camera group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Architecture can expand to multiple BOPs and command centers</a:t>
            </a:r>
            <a:endParaRPr lang="en-US" altLang="en-US" sz="1000"/>
          </a:p>
        </p:txBody>
      </p:sp>
      <p:sp>
        <p:nvSpPr>
          <p:cNvPr id="14" name="Text Box 13"/>
          <p:cNvSpPr txBox="1"/>
          <p:nvPr/>
        </p:nvSpPr>
        <p:spPr>
          <a:xfrm>
            <a:off x="3649980" y="1703705"/>
            <a:ext cx="306768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600" b="1" i="1" u="sng">
                <a:highlight>
                  <a:srgbClr val="00FF00"/>
                </a:highlight>
              </a:rPr>
              <a:t>2. CHALLENGES &amp; RISKS</a:t>
            </a:r>
            <a:endParaRPr lang="en-US" altLang="en-US" sz="1600" b="1" i="1" u="sng">
              <a:highlight>
                <a:srgbClr val="00FF00"/>
              </a:highlight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648075" y="2233295"/>
            <a:ext cx="3405505" cy="3659505"/>
          </a:xfrm>
          <a:prstGeom prst="rect">
            <a:avLst/>
          </a:prstGeom>
        </p:spPr>
        <p:txBody>
          <a:bodyPr wrap="square">
            <a:noAutofit/>
          </a:bodyPr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Low-Light Conditions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Night surveillance may reduce detection accuracy</a:t>
            </a:r>
            <a:endParaRPr lang="en-US" altLang="en-US" sz="1000"/>
          </a:p>
          <a:p>
            <a:pPr marL="0" indent="0" algn="just">
              <a:buFont typeface="Wingdings" panose="05000000000000000000" charset="0"/>
              <a:buNone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Network Reliability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Remote border locations may have intermittent connectivity</a:t>
            </a:r>
            <a:endParaRPr lang="en-US" altLang="en-US" sz="1000"/>
          </a:p>
          <a:p>
            <a:pPr marL="0" indent="0" algn="just">
              <a:buFont typeface="Wingdings" panose="05000000000000000000" charset="0"/>
              <a:buNone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Computational Load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Multiple live streams require significant GPU/CPU resources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</a:rPr>
              <a:t>False Positives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/>
              <a:t>→ Incorrect alerts may cause operator fatigue</a:t>
            </a: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Camera Diversity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Different resolutions, angles and environments affect model performance</a:t>
            </a: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/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Sensitive Data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Video, faces and vehicle information require controlled access and protection</a:t>
            </a:r>
            <a:endParaRPr lang="en-US" altLang="en-US" sz="1000"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377430" y="1703705"/>
            <a:ext cx="306768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600" b="1" i="1" u="sng">
                <a:highlight>
                  <a:srgbClr val="00FF00"/>
                </a:highlight>
              </a:rPr>
              <a:t>3. MITIGATION STRATEGY</a:t>
            </a:r>
            <a:endParaRPr lang="en-US" altLang="en-US" sz="1600" b="1" i="1" u="sng">
              <a:highlight>
                <a:srgbClr val="00FF00"/>
              </a:highlight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7377430" y="2360295"/>
            <a:ext cx="3405505" cy="3659505"/>
          </a:xfrm>
          <a:prstGeom prst="rect">
            <a:avLst/>
          </a:prstGeom>
        </p:spPr>
        <p:txBody>
          <a:bodyPr wrap="square">
            <a:noAutofit/>
          </a:bodyPr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Low-Light → Adaptive Processing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</a:t>
            </a:r>
            <a:r>
              <a:rPr lang="en-US" altLang="en-US" sz="1000">
                <a:sym typeface="+mn-ea"/>
              </a:rPr>
              <a:t>Image enhancement + night-specific detection + confidence thresholds</a:t>
            </a: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Network → Edge Intelligence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</a:t>
            </a:r>
            <a:r>
              <a:rPr lang="en-US" altLang="en-US" sz="1000">
                <a:sym typeface="+mn-ea"/>
              </a:rPr>
              <a:t>Process locally and transmit important events/evidence when connectivity is limited</a:t>
            </a: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Compute → Optimized AI Pipeline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</a:t>
            </a:r>
            <a:r>
              <a:rPr lang="en-US" altLang="en-US" sz="1000">
                <a:sym typeface="+mn-ea"/>
              </a:rPr>
              <a:t>GPU acceleration + frame sampling + parallel processing</a:t>
            </a: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False Alerts → Multi-Signal Validation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</a:t>
            </a:r>
            <a:r>
              <a:rPr lang="en-US" altLang="en-US" sz="1000">
                <a:sym typeface="+mn-ea"/>
              </a:rPr>
              <a:t>Object + zone + time + movement → stronger incident confidence</a:t>
            </a: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Camera Variation → Site Calibration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</a:t>
            </a:r>
            <a:r>
              <a:rPr lang="en-US" altLang="en-US" sz="1000">
                <a:sym typeface="+mn-ea"/>
              </a:rPr>
              <a:t>Camera-specific zones, thresholds and configuration</a:t>
            </a: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endParaRPr lang="en-US" altLang="en-US" sz="1000"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Security → Secure Evidence Pipeline</a:t>
            </a:r>
            <a:endParaRPr lang="en-US" altLang="en-US" sz="1000" b="1" i="1" u="sng">
              <a:solidFill>
                <a:srgbClr val="FF0000"/>
              </a:solidFill>
              <a:sym typeface="+mn-ea"/>
            </a:endParaRPr>
          </a:p>
          <a:p>
            <a:pPr marL="228600" indent="-228600" algn="just">
              <a:buFont typeface="Wingdings" panose="05000000000000000000" charset="0"/>
              <a:buChar char=""/>
            </a:pPr>
            <a:r>
              <a:rPr lang="en-US" altLang="en-US" sz="1000">
                <a:sym typeface="+mn-ea"/>
              </a:rPr>
              <a:t>→ </a:t>
            </a:r>
            <a:r>
              <a:rPr lang="en-US" altLang="en-US" sz="1000">
                <a:sym typeface="+mn-ea"/>
              </a:rPr>
              <a:t>Encryption + RBAC + audit logs + evidence integrity verification</a:t>
            </a:r>
            <a:endParaRPr lang="en-US" altLang="en-US" sz="10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4836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u="sng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MS PGothic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10235" y="6356350"/>
            <a:ext cx="10596245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SIH 2K26 • Team Circuit Crew • GitHub: https://github.com/BHANUASATI/circuitvision-intelligent-border-video-analytics.git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86995" y="82550"/>
            <a:ext cx="1337310" cy="7181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b="1" i="1" u="sng" dirty="0">
                <a:solidFill>
                  <a:srgbClr val="FF0000"/>
                </a:solidFill>
              </a:rPr>
              <a:t>Circuit Crew</a:t>
            </a:r>
            <a:endParaRPr lang="en-US" altLang="en-US" b="1" i="1" u="sng" dirty="0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5130" y="2105025"/>
            <a:ext cx="2581275" cy="307975"/>
          </a:xfrm>
          <a:prstGeom prst="rect">
            <a:avLst/>
          </a:prstGeom>
        </p:spPr>
        <p:txBody>
          <a:bodyPr>
            <a:noAutofit/>
          </a:bodyPr>
          <a:p>
            <a:endParaRPr sz="1600">
              <a:solidFill>
                <a:schemeClr val="tx1"/>
              </a:solidFill>
              <a:highlight>
                <a:srgbClr val="00808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9240" y="1567180"/>
            <a:ext cx="2844165" cy="332295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sz="1000" b="1" i="1" u="sng">
                <a:solidFill>
                  <a:srgbClr val="FF0000"/>
                </a:solidFill>
              </a:rPr>
              <a:t>Border Security Forces / SSB Personnel</a:t>
            </a:r>
            <a:endParaRPr sz="1000" b="1" i="1" u="sng">
              <a:solidFill>
                <a:srgbClr val="FF0000"/>
              </a:solidFill>
            </a:endParaRPr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sz="1000"/>
              <a:t>Faster identification of potential intrusions</a:t>
            </a:r>
            <a:endParaRPr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sz="1000"/>
              <a:t>Reduced dependence on continuous manual monitoring</a:t>
            </a:r>
            <a:endParaRPr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sz="1000"/>
              <a:t>Better situational awareness across multiple camera feeds</a:t>
            </a:r>
            <a:endParaRPr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  <a:sym typeface="+mn-ea"/>
              </a:rPr>
              <a:t>Administrators / Deployment Teams</a:t>
            </a:r>
            <a:endParaRPr sz="1000" b="1" i="1" u="sng">
              <a:solidFill>
                <a:srgbClr val="FF0000"/>
              </a:solidFill>
            </a:endParaRPr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sz="1000">
                <a:sym typeface="+mn-ea"/>
              </a:rPr>
              <a:t>Intelligence layer over existing CCTV infrastructure</a:t>
            </a:r>
            <a:endParaRPr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sz="1000">
                <a:sym typeface="+mn-ea"/>
              </a:rPr>
              <a:t>Lower dependency on specialized surveillance hardware</a:t>
            </a:r>
            <a:endParaRPr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sz="1000">
                <a:sym typeface="+mn-ea"/>
              </a:rPr>
              <a:t>Scalable deployment across strategic locations</a:t>
            </a:r>
            <a:endParaRPr sz="1000">
              <a:sym typeface="+mn-ea"/>
            </a:endParaRPr>
          </a:p>
          <a:p>
            <a:pPr marL="171450" indent="-171450" algn="just">
              <a:buFont typeface="Arial" panose="020B0704020202020204" pitchFamily="34" charset="0"/>
              <a:buChar char="•"/>
            </a:pPr>
            <a:endParaRPr sz="1000"/>
          </a:p>
          <a:p>
            <a:pPr algn="just"/>
            <a:r>
              <a:rPr lang="en-US" altLang="en-US" sz="1000" b="1" i="1" u="sng">
                <a:solidFill>
                  <a:srgbClr val="FF0000"/>
                </a:solidFill>
                <a:sym typeface="+mn-ea"/>
              </a:rPr>
              <a:t>Command &amp; Control Teams</a:t>
            </a:r>
            <a:endParaRPr lang="en-US" altLang="en-US" sz="1000" b="1" i="1" u="sng">
              <a:solidFill>
                <a:srgbClr val="FF0000"/>
              </a:solidFill>
            </a:endParaRPr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lang="en-US" altLang="en-US" sz="1000">
                <a:sym typeface="+mn-ea"/>
              </a:rPr>
              <a:t>Centralized incident visibility</a:t>
            </a:r>
            <a:endParaRPr lang="en-US" altLang="en-US"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lang="en-US" altLang="en-US" sz="1000">
                <a:sym typeface="+mn-ea"/>
              </a:rPr>
              <a:t>Real-time alerts with supporting evidence</a:t>
            </a:r>
            <a:endParaRPr lang="en-US" altLang="en-US" sz="1000"/>
          </a:p>
          <a:p>
            <a:pPr marL="171450" indent="-171450" algn="just">
              <a:buFont typeface="Arial" panose="020B0704020202020204" pitchFamily="34" charset="0"/>
              <a:buChar char="•"/>
            </a:pPr>
            <a:r>
              <a:rPr lang="en-US" altLang="en-US" sz="1000">
                <a:sym typeface="+mn-ea"/>
              </a:rPr>
              <a:t>Faster investigation through searchable event history</a:t>
            </a:r>
            <a:endParaRPr lang="en-US" altLang="en-US" sz="1000"/>
          </a:p>
          <a:p>
            <a:pPr marL="0" indent="0" algn="just">
              <a:buFont typeface="Arial" panose="020B0704020202020204" pitchFamily="34" charset="0"/>
              <a:buNone/>
            </a:pPr>
            <a:endParaRPr sz="1000"/>
          </a:p>
        </p:txBody>
      </p:sp>
      <p:sp>
        <p:nvSpPr>
          <p:cNvPr id="13" name="Text Box 12"/>
          <p:cNvSpPr txBox="1"/>
          <p:nvPr/>
        </p:nvSpPr>
        <p:spPr>
          <a:xfrm>
            <a:off x="225425" y="1076325"/>
            <a:ext cx="22663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 i="1" u="sng">
                <a:solidFill>
                  <a:schemeClr val="accent2">
                    <a:lumMod val="50000"/>
                  </a:schemeClr>
                </a:solidFill>
              </a:rPr>
              <a:t>TARGET AUDIENCE</a:t>
            </a:r>
            <a:endParaRPr sz="1600" b="1" i="1" u="sng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319780" y="1063625"/>
            <a:ext cx="22663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600" b="1" i="1" u="sng">
                <a:solidFill>
                  <a:schemeClr val="accent2">
                    <a:lumMod val="50000"/>
                  </a:schemeClr>
                </a:solidFill>
              </a:rPr>
              <a:t>SECURITY IMPACT</a:t>
            </a:r>
            <a:endParaRPr lang="en-US" altLang="en-US" sz="1600" b="1" i="1" u="sng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319780" y="1594485"/>
            <a:ext cx="2249170" cy="363093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sz="1000" b="1" i="1" u="sng">
                <a:solidFill>
                  <a:srgbClr val="FF0000"/>
                </a:solidFill>
              </a:rPr>
              <a:t>Earlier Detection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AI continuously analyses video and highlights events requiring attention.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  <a:sym typeface="+mn-ea"/>
              </a:rPr>
              <a:t>Faster Response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>
                <a:sym typeface="+mn-ea"/>
              </a:rPr>
              <a:t>Critical incidents reach operators in real time instead of relying only on manual observation.</a:t>
            </a:r>
            <a:endParaRPr sz="1000">
              <a:sym typeface="+mn-ea"/>
            </a:endParaRPr>
          </a:p>
          <a:p>
            <a:pPr algn="just"/>
            <a:endParaRPr sz="1000">
              <a:sym typeface="+mn-ea"/>
            </a:endParaRPr>
          </a:p>
          <a:p>
            <a:pPr algn="just"/>
            <a:r>
              <a:rPr sz="1000" b="1" i="1" u="sng">
                <a:solidFill>
                  <a:srgbClr val="FF0000"/>
                </a:solidFill>
                <a:sym typeface="+mn-ea"/>
              </a:rPr>
              <a:t>Better Situational Awareness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>
                <a:sym typeface="+mn-ea"/>
              </a:rPr>
              <a:t>Person, vehicle, movement, zone and event information can be viewed together.</a:t>
            </a:r>
            <a:endParaRPr sz="1000">
              <a:sym typeface="+mn-ea"/>
            </a:endParaRPr>
          </a:p>
          <a:p>
            <a:pPr algn="just"/>
            <a:endParaRPr lang="en-US" sz="1000">
              <a:sym typeface="+mn-ea"/>
            </a:endParaRPr>
          </a:p>
          <a:p>
            <a:pPr algn="just"/>
            <a:r>
              <a:rPr sz="1000" b="1" i="1" u="sng">
                <a:solidFill>
                  <a:srgbClr val="FF0000"/>
                </a:solidFill>
                <a:sym typeface="+mn-ea"/>
              </a:rPr>
              <a:t>Evidence-Driven Investigation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>
                <a:sym typeface="+mn-ea"/>
              </a:rPr>
              <a:t>Alerts can be associated with snapshots, video clips, timestamps and event metadata.</a:t>
            </a:r>
            <a:endParaRPr lang="en-US" sz="1000">
              <a:sym typeface="+mn-ea"/>
            </a:endParaRPr>
          </a:p>
          <a:p>
            <a:pPr algn="just"/>
            <a:endParaRPr lang="en-US" sz="1000">
              <a:sym typeface="+mn-ea"/>
            </a:endParaRPr>
          </a:p>
          <a:p>
            <a:pPr algn="just"/>
            <a:endParaRPr sz="1000">
              <a:sym typeface="+mn-ea"/>
            </a:endParaRPr>
          </a:p>
          <a:p>
            <a:pPr algn="just"/>
            <a:endParaRPr sz="1000"/>
          </a:p>
          <a:p>
            <a:pPr algn="just"/>
            <a:endParaRPr lang="en-US" sz="1000">
              <a:sym typeface="+mn-ea"/>
            </a:endParaRPr>
          </a:p>
          <a:p>
            <a:pPr algn="just"/>
            <a:endParaRPr sz="1000"/>
          </a:p>
        </p:txBody>
      </p:sp>
      <p:sp>
        <p:nvSpPr>
          <p:cNvPr id="19" name="Text Box 18"/>
          <p:cNvSpPr txBox="1"/>
          <p:nvPr/>
        </p:nvSpPr>
        <p:spPr>
          <a:xfrm>
            <a:off x="6029960" y="1063625"/>
            <a:ext cx="22663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600" b="1" i="1" u="sng">
                <a:solidFill>
                  <a:schemeClr val="accent2">
                    <a:lumMod val="50000"/>
                  </a:schemeClr>
                </a:solidFill>
              </a:rPr>
              <a:t>ECONOMIC IMPACT</a:t>
            </a:r>
            <a:endParaRPr lang="en-US" altLang="en-US" sz="1600" b="1" i="1" u="sng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030595" y="1604010"/>
            <a:ext cx="2645410" cy="28613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sz="1000" b="1" i="1" u="sng">
                <a:solidFill>
                  <a:srgbClr val="FF0000"/>
                </a:solidFill>
              </a:rPr>
              <a:t>Lower Infrastructure Cost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Leverages existing CCTV cameras instead of requiring complete smart-camera replacement.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</a:rPr>
              <a:t>Reduced Hardware Dependency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Advanced analytics are delivered primarily through software and computing infrastructure.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</a:rPr>
              <a:t>Scalable Investment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Deployment can grow incrementally—from a small camera group to multiple locations.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</a:rPr>
              <a:t>Operational Efficiency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Operators can focus attention on prioritized incidents instead of continuously watching every feed.</a:t>
            </a:r>
            <a:endParaRPr sz="1000"/>
          </a:p>
        </p:txBody>
      </p:sp>
      <p:sp>
        <p:nvSpPr>
          <p:cNvPr id="22" name="Text Box 21"/>
          <p:cNvSpPr txBox="1"/>
          <p:nvPr/>
        </p:nvSpPr>
        <p:spPr>
          <a:xfrm>
            <a:off x="8740140" y="1063625"/>
            <a:ext cx="328104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600" b="1" i="1" u="sng">
                <a:solidFill>
                  <a:schemeClr val="accent2">
                    <a:lumMod val="50000"/>
                  </a:schemeClr>
                </a:solidFill>
              </a:rPr>
              <a:t>SOCIAL &amp; ENVIRONMENTAL IMPACT</a:t>
            </a:r>
            <a:endParaRPr lang="en-US" altLang="en-US" sz="1600" b="1" i="1" u="sng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734425" y="1647190"/>
            <a:ext cx="3223895" cy="252285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sz="1000" b="1" i="1" u="sng">
                <a:solidFill>
                  <a:srgbClr val="FF0000"/>
                </a:solidFill>
              </a:rPr>
              <a:t>Safer Border Installations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Strengthens surveillance around vulnerable and strategic locations.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</a:rPr>
              <a:t>Reduced Human Monitoring Burden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AI assists personnel by filtering large volumes of video into relevant events.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</a:rPr>
              <a:t>Less Hardware Replacement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Reusing existing cameras can reduce unnecessary replacement of functioning surveillance infrastructure.</a:t>
            </a:r>
            <a:endParaRPr sz="1000"/>
          </a:p>
          <a:p>
            <a:pPr algn="just"/>
            <a:endParaRPr sz="1000"/>
          </a:p>
          <a:p>
            <a:pPr algn="just"/>
            <a:r>
              <a:rPr sz="1000" b="1" i="1" u="sng">
                <a:solidFill>
                  <a:srgbClr val="FF0000"/>
                </a:solidFill>
              </a:rPr>
              <a:t>Remote-Site Support</a:t>
            </a:r>
            <a:endParaRPr sz="1000" b="1" i="1" u="sng">
              <a:solidFill>
                <a:srgbClr val="FF0000"/>
              </a:solidFill>
            </a:endParaRPr>
          </a:p>
          <a:p>
            <a:pPr algn="just"/>
            <a:r>
              <a:rPr sz="1000"/>
              <a:t>Edge-based processing can help maintain local intelligence even where connectivity is unreliable.</a:t>
            </a:r>
            <a:endParaRPr sz="1000"/>
          </a:p>
        </p:txBody>
      </p:sp>
      <p:sp>
        <p:nvSpPr>
          <p:cNvPr id="25" name="Text Box 24"/>
          <p:cNvSpPr txBox="1"/>
          <p:nvPr/>
        </p:nvSpPr>
        <p:spPr>
          <a:xfrm>
            <a:off x="1255395" y="5072380"/>
            <a:ext cx="10368280" cy="67564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 i="1">
                <a:solidFill>
                  <a:schemeClr val="bg2">
                    <a:lumMod val="50000"/>
                  </a:schemeClr>
                </a:solidFill>
              </a:rPr>
              <a:t>MORE COVERAGE → LESS MANUAL MONITORING → FASTER DETECTION → FASTER RESPONSE</a:t>
            </a:r>
            <a:endParaRPr sz="1600" b="1" i="1">
              <a:solidFill>
                <a:schemeClr val="bg2">
                  <a:lumMod val="50000"/>
                </a:schemeClr>
              </a:solidFill>
            </a:endParaRPr>
          </a:p>
          <a:p>
            <a:pPr>
              <a:spcAft>
                <a:spcPct val="60000"/>
              </a:spcAft>
            </a:pPr>
            <a:r>
              <a:rPr sz="2200" b="1" i="1">
                <a:solidFill>
                  <a:schemeClr val="bg2">
                    <a:lumMod val="50000"/>
                  </a:schemeClr>
                </a:solidFill>
              </a:rPr>
              <a:t>From Watching Cameras → To Acting on Intelligence</a:t>
            </a:r>
            <a:endParaRPr sz="2200" b="1" i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6" name="Image 20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6590" y="1063625"/>
            <a:ext cx="546100" cy="393700"/>
          </a:xfrm>
          <a:prstGeom prst="rect">
            <a:avLst/>
          </a:prstGeom>
        </p:spPr>
      </p:pic>
      <p:pic>
        <p:nvPicPr>
          <p:cNvPr id="27" name="Image 200"/>
          <p:cNvPicPr/>
          <p:nvPr/>
        </p:nvPicPr>
        <p:blipFill>
          <a:blip r:embed="rId3" cstate="print">
            <a:alphaModFix amt="20000"/>
          </a:blip>
          <a:stretch>
            <a:fillRect/>
          </a:stretch>
        </p:blipFill>
        <p:spPr>
          <a:xfrm>
            <a:off x="2905125" y="932180"/>
            <a:ext cx="512445" cy="502920"/>
          </a:xfrm>
          <a:prstGeom prst="rect">
            <a:avLst/>
          </a:prstGeom>
        </p:spPr>
      </p:pic>
      <p:pic>
        <p:nvPicPr>
          <p:cNvPr id="28" name="Image 19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8950" y="946150"/>
            <a:ext cx="511810" cy="503555"/>
          </a:xfrm>
          <a:prstGeom prst="rect">
            <a:avLst/>
          </a:prstGeom>
        </p:spPr>
      </p:pic>
      <p:pic>
        <p:nvPicPr>
          <p:cNvPr id="29" name="Image 1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9650" y="1014730"/>
            <a:ext cx="321310" cy="337820"/>
          </a:xfrm>
          <a:prstGeom prst="rect">
            <a:avLst/>
          </a:prstGeom>
        </p:spPr>
      </p:pic>
      <p:pic>
        <p:nvPicPr>
          <p:cNvPr id="30" name="Image 20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5130" y="5104765"/>
            <a:ext cx="731520" cy="774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18185"/>
          </a:xfrm>
        </p:spPr>
        <p:txBody>
          <a:bodyPr/>
          <a:lstStyle/>
          <a:p>
            <a:pPr eaLnBrk="1" hangingPunct="1"/>
            <a:r>
              <a:rPr lang="en-US" sz="3600" b="1" u="sng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u="sng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MS PGothic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25220"/>
            <a:ext cx="5486400" cy="48964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1. Smart India Hackathon — Problem Statement 26187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AI-Based Intelligent Video Analytics Platform for Border Surveillance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https://www.sih.gov.in/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Reference: Official SIH Problem Statement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2. Ultralytics YOLO — Object Detection &amp; Tracking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 for real-time person, vehicle and object detection.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https://docs.ultralytics.com/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3. ByteTrack — Multi-Object Tracking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Research reference for maintaining object identities across video frames.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https://arxiv.org/abs/2110.06864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4. ONVIF — IP Video Interoperability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 for standardized communication and interoperability with IP-based CCTV systems.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https://www.onvif.org/profiles/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5. PaddleOCR — Optical Character Recognition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 for OCR-based number-plate text recognition and scene-text processing.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https://github.com/PaddlePaddle/PaddleOCR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6. OpenCV — Computer Vision Library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 for video processing, frame manipulation and computer-vision operations.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https://opencv.org/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7. FastAPI — Backend API Framework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 for building high-performance backend APIs and AI-service integration.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https://fastapi.tiangolo.com/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8. Docker — Containerized Deployment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Reference for portable and reproducible deployment of application services.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🔗 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MS PGothic" pitchFamily="1" charset="-128"/>
                <a:cs typeface="Arial" panose="020B0704020202020204" pitchFamily="34" charset="0"/>
              </a:rPr>
              <a:t>https://docs.docker.com/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MS PGothic" pitchFamily="1" charset="-128"/>
              <a:cs typeface="Arial" panose="020B07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08965" y="6356350"/>
            <a:ext cx="10593070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bg1"/>
                </a:solidFill>
                <a:sym typeface="+mn-ea"/>
              </a:rPr>
              <a:t>SIH 2K26 • Team Circuit Crew • GitHub: https://github.com/BHANUASATI/circuitvision-intelligent-border-video-analytics.git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86995" y="82550"/>
            <a:ext cx="1337310" cy="7181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b="1" i="1" u="sng" dirty="0">
                <a:solidFill>
                  <a:srgbClr val="FF0000"/>
                </a:solidFill>
              </a:rPr>
              <a:t>Circuit Crew</a:t>
            </a:r>
            <a:endParaRPr lang="en-US" altLang="en-US" b="1" i="1" u="sng" dirty="0">
              <a:solidFill>
                <a:srgbClr val="FF0000"/>
              </a:solidFill>
            </a:endParaRPr>
          </a:p>
        </p:txBody>
      </p:sp>
      <p:pic>
        <p:nvPicPr>
          <p:cNvPr id="2" name="Picture 1" descr="ChatGPT Image Sep 1, 2026, 01_23_03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95" y="1585595"/>
            <a:ext cx="5528945" cy="3686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9242</Words>
  <Application>WPS Docs</Application>
  <PresentationFormat>Widescreen</PresentationFormat>
  <Paragraphs>321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Helvetica Neue</vt:lpstr>
      <vt:lpstr>MS PGothic</vt:lpstr>
      <vt:lpstr>冬青黑体简体中文</vt:lpstr>
      <vt:lpstr>TradeGothic</vt:lpstr>
      <vt:lpstr>苹方-简</vt:lpstr>
      <vt:lpstr>TradeGothic</vt:lpstr>
      <vt:lpstr>Thonburi</vt:lpstr>
      <vt:lpstr>MS PGothic</vt:lpstr>
      <vt:lpstr>Arial</vt:lpstr>
      <vt:lpstr>Times New Roman</vt:lpstr>
      <vt:lpstr>Garamond</vt:lpstr>
      <vt:lpstr>Times New Roman Bold</vt:lpstr>
      <vt:lpstr>Calibri</vt:lpstr>
      <vt:lpstr>Wingdings</vt:lpstr>
      <vt:lpstr>Microsoft YaHei</vt:lpstr>
      <vt:lpstr>汉仪旗黑</vt:lpstr>
      <vt:lpstr>宋体-简</vt:lpstr>
      <vt:lpstr>Arial Unicode MS</vt:lpstr>
      <vt:lpstr>Apple Color Emoji</vt:lpstr>
      <vt:lpstr>Office Theme</vt:lpstr>
      <vt:lpstr>SMART INDIA HACKATHON 2026</vt:lpstr>
      <vt:lpstr>TITLE:  AI- Based Intelligent Video Analytics Platform for Border Surveillance using existing CCTV infrastructure.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Bhanu Asati</cp:lastModifiedBy>
  <cp:revision>154</cp:revision>
  <dcterms:created xsi:type="dcterms:W3CDTF">2026-09-01T07:55:14Z</dcterms:created>
  <dcterms:modified xsi:type="dcterms:W3CDTF">2026-09-01T07:55:14Z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ED5BC38EA574110CE284966A7CD515BE_43</vt:lpwstr>
  </property>
  <property fmtid="{D5CDD505-2E9C-101B-9397-08002B2CF9AE}" pid="3" name="KSOProductBuildVer">
    <vt:lpwstr>1033-12.1.26050.26050</vt:lpwstr>
  </property>
</Properties>
</file>